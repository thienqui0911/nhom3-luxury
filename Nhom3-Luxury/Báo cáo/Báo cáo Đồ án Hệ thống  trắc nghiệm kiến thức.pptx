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Space Grotesk"/>
      <ns0:bold ns1:id="rIdFont22"/>
    </ns0:embeddedFont>
    <ns0:embeddedFont>
      <ns0:font typeface="Plus Jakarta Sans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6e842e59-c738-40b3-80a2-f2c11f96e89d.fntdata" /><ns0:Relationship Id="rIdFont23" Type="http://schemas.openxmlformats.org/officeDocument/2006/relationships/font" Target="fonts/75dc8577-9ce3-4303-b893-6f4d62c2dab2.fntdata" /><ns0:Relationship Id="rIdFont24" Type="http://schemas.openxmlformats.org/officeDocument/2006/relationships/font" Target="fonts/e513cb04-3e2c-4091-baf8-08bb790ed9c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4966"/>
            <a:ext cx="10972800" cy="1162050"/>
          </a:xfrm>
          <a:prstGeom prst="roundRect">
            <a:avLst>
              <a:gd name="adj" fmla="val 9836"/>
            </a:avLst>
          </a:prstGeom>
          <a:solidFill>
            <a:srgbClr val="182130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63200" y="457200"/>
            <a:ext cx="1219200" cy="247650"/>
          </a:xfrm>
          <a:prstGeom prst="roundRect">
            <a:avLst>
              <a:gd name="adj" fmla="val 23076"/>
            </a:avLst>
          </a:prstGeom>
          <a:solidFill>
            <a:srgbClr val="102738"/>
          </a:solidFill>
          <a:ln w="9525">
            <a:solidFill>
              <a:srgbClr val="174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114425"/>
            <a:ext cx="10101262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Xây dựng hệ thống trắc nghiệm kiến thức môn học Nhập môn Lập trình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64866"/>
            <a:ext cx="8667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Đề xuất giải pháp tạo đề tự động, chấm điểm thông minh và phân tích năng lực sinh viên theo từng nhóm kiến thức — hướng đến đánh giá công bằng, chi tiết và có phản hồi.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29350"/>
            <a:ext cx="4357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CÔNG NGHỆ THÔNG TIN - KHÓA 25 - VĨNH LONG - 2026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2775" y="6229350"/>
            <a:ext cx="1095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NMLT - 01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3821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BÁO CÁO ĐỒ ÁN - TRÍ TUỆ NHÂN TẠO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3821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TRƯỜNG ĐẠI HỌC CỬU LONG — KHOA CNTT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3200" y="495300"/>
            <a:ext cx="1123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975" i="0" u="none">
                <a:solidFill>
                  <a:srgbClr val="38BDF8"/>
                </a:solidFill>
                <a:latin typeface="Plus Jakarta Sans"/>
              </a:rPr>
              <a:t>MÔN HỌC: NMLT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303091"/>
            <a:ext cx="4183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GIẢNG VIÊN HƯỚNG DẪN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31691"/>
            <a:ext cx="4183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PGS.TS. Nguyễn Đình Hiển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1325" y="3303091"/>
            <a:ext cx="754067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NHÓM SINH VIÊN THỰC HIỆN (06 THÀNH VIÊN)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1325" y="3531691"/>
            <a:ext cx="6788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E2E8F0"/>
                </a:solidFill>
                <a:latin typeface="Plus Jakarta Sans"/>
              </a:rPr>
              <a:t>Lê Nguyễn Quang Vinh • Tạ Huỳnh Đền • Nguyễn Thanh Trọng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Plus Jakarta Sans"/>
              </a:rPr>
              <a:t> Đinh Gia Long • Nguyễn Văn Khánh • Trần Thiên Quí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677292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572642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467992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363342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5258692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677292"/>
            <a:ext cx="47625" cy="762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572642"/>
            <a:ext cx="47625" cy="762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467992"/>
            <a:ext cx="47625" cy="762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363342"/>
            <a:ext cx="47625" cy="762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5258692"/>
            <a:ext cx="47625" cy="762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02 / 15 — NỘI DUNG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MỤC LỤC — Toàn bộ hành trình đồ 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16205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Được phân chia thành 5 chương chính từ đặt vấn đề đến thực nghiệm và hướng phát triển.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229350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ĐỒ ÁN TỐT NGHIỆP — KHOA CNTT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53675" y="6229350"/>
            <a:ext cx="1535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02 / 15 — NỘI DUNG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1910655"/>
            <a:ext cx="5429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Space Grotesk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806005"/>
            <a:ext cx="5715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8B5CF6"/>
                </a:solidFill>
                <a:latin typeface="Space Grotesk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701355"/>
            <a:ext cx="5810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596705"/>
            <a:ext cx="5810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5492055"/>
            <a:ext cx="5715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Space Grotesk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1848742"/>
            <a:ext cx="48506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Tổng quan đề tài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2086867"/>
            <a:ext cx="4619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Đặt vấn đề, mục tiêu, đối tượng và phạm vi nghiên cứu.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2075" y="2744092"/>
            <a:ext cx="491311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Cơ sở lý thuyết &amp; Phương pháp đánh giá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2075" y="2982217"/>
            <a:ext cx="4679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Phân loại kiến thức, mức độ khó và công nghệ áp dụng.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639442"/>
            <a:ext cx="568821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Phân tích &amp; Thiết kế hệ thống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77567"/>
            <a:ext cx="5417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Tác nhân, use case, thuật toán đánh giá và thiết kế cơ sở dữ liệu.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534792"/>
            <a:ext cx="577572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Xây dựng &amp; Triển khai hệ thống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772917"/>
            <a:ext cx="5500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Hiện thực hóa các chức năng quản lý, tạo đề, làm bài và đánh giá.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2075" y="5430142"/>
            <a:ext cx="50881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Thực nghiệm &amp; Đánh giá kết quả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2075" y="5668267"/>
            <a:ext cx="4845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Dữ liệu thử nghiệm, kết quả đạt được và hướng phát triển.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152650"/>
            <a:ext cx="5372100" cy="1447800"/>
          </a:xfrm>
          <a:prstGeom prst="roundRect">
            <a:avLst>
              <a:gd name="adj" fmla="val 7894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152650"/>
            <a:ext cx="5372100" cy="1447800"/>
          </a:xfrm>
          <a:prstGeom prst="roundRect">
            <a:avLst>
              <a:gd name="adj" fmla="val 789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829050"/>
            <a:ext cx="3530649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0749" y="3829050"/>
            <a:ext cx="3530649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899" y="3829050"/>
            <a:ext cx="3530649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419350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419350"/>
            <a:ext cx="13335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01 — ĐẶT VẤN ĐỀ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Vấn đề thực tế &amp; Mục tiêu nghiên cứu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29350"/>
            <a:ext cx="2690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03 / 15 — CHƯƠNG 1 — ĐẶT VẤN ĐỀ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0" y="6229350"/>
            <a:ext cx="233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TRƯỜNG ĐẠI HỌC CỬU LONG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390775"/>
            <a:ext cx="61198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NÚT THẮT TRUYỀN THỐNG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638425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Chấm điểm chỉ trả về một con số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933700"/>
            <a:ext cx="49911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7F1D1D"/>
                </a:solidFill>
                <a:latin typeface="Plus Jakarta Sans"/>
              </a:rPr>
              <a:t>Không phản ánh sinh viên hổng kiến thức ở phần nào, thiếu phản hồi chi tiết và gây tốn thời gian tạo đề thủ công.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2390775"/>
            <a:ext cx="5743575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GIẢI PHÁP ĐỀ XUẤT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2638425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Trắc nghiệm tự động &amp; Phân tích chi tiết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2933700"/>
            <a:ext cx="49911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4532D"/>
                </a:solidFill>
                <a:latin typeface="Plus Jakarta Sans"/>
              </a:rPr>
              <a:t>Phân nhóm kiến thức cốt lõi, tạo đề linh hoạt theo tiêu chí, tự động chấm và thống kê năng lực theo từng nhóm.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067175"/>
            <a:ext cx="381799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410075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Quản lý câu hỏi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648200"/>
            <a:ext cx="31496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Thêm, sửa, xóa và phân loại ngân hàng câu hỏi theo chương bài và độ khó.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874" y="4067175"/>
            <a:ext cx="381799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874" y="4410075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Tạo đề linh hoạt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8874" y="4648200"/>
            <a:ext cx="31496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Linh hoạt theo tiêu chí tỷ lệ nhóm kiến thức, độ khó và số lượng câu hỏi.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024" y="4067175"/>
            <a:ext cx="381799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024" y="4410075"/>
            <a:ext cx="39019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Phân tích lỗ hổng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0024" y="4648200"/>
            <a:ext cx="31496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Tự động chấm điểm và lập báo cáo năng lực theo 4 nhóm kiến thức.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877442"/>
            <a:ext cx="3505200" cy="194310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877442"/>
            <a:ext cx="350520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2877442"/>
            <a:ext cx="350520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115567"/>
            <a:ext cx="971550" cy="228600"/>
          </a:xfrm>
          <a:prstGeom prst="roundRect">
            <a:avLst>
              <a:gd name="adj" fmla="val 25000"/>
            </a:avLst>
          </a:prstGeom>
          <a:solidFill>
            <a:srgbClr val="173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81525" y="3115567"/>
            <a:ext cx="1000125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15325" y="3115567"/>
            <a:ext cx="1571625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877567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153792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430017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877567"/>
            <a:ext cx="857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4153792"/>
            <a:ext cx="857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4430017"/>
            <a:ext cx="857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877567"/>
            <a:ext cx="1238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4153792"/>
            <a:ext cx="1428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325" y="4430017"/>
            <a:ext cx="14287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01 — PHẠM VI NGHIÊN CỨU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Đối tượng &amp; Phạm vi nghiên cứu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16205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Tập trung trọng tâm vào môn Nhập môn Lập trình — đánh giá năng lực qua kết quả trắc nghiệm.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229350"/>
            <a:ext cx="3536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04 / 15 — CHƯƠNG 1 — ĐỐI TƯỢNG &amp; PHẠM 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5950" y="6229350"/>
            <a:ext cx="2595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MÔN HỌC: NHẬP MÔN LẬP TRÌNH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975" y="3153667"/>
            <a:ext cx="876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TÁC NHÂN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458467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Giảng viên / Quản lý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6775" y="3153667"/>
            <a:ext cx="904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TÁC NHÂN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525" y="3458467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Sinh viên / Người học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0575" y="3153667"/>
            <a:ext cx="1476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Plus Jakarta Sans"/>
              </a:rPr>
              <a:t>DỮ LIỆU &amp; NGÂN HÀNG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5325" y="3458467"/>
            <a:ext cx="387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Ngân hàng &amp; Đề thi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3848992"/>
            <a:ext cx="3786187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Quản lý câu hỏi theo chương &amp; nhóm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4125217"/>
            <a:ext cx="3786187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Thiết lập cấu trúc đề thi tự động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4401442"/>
            <a:ext cx="3786187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Xem báo cáo tổng quan toàn lớp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525" y="3848992"/>
            <a:ext cx="3786187" cy="180975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Chọn đề và làm bài trực tuyến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525" y="4125217"/>
            <a:ext cx="3786187" cy="180975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Nhận phản hồi năng lực cá nhân hóa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525" y="4401442"/>
            <a:ext cx="3786187" cy="180975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Theo dõi tiến bộ qua chuỗi bài làm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325" y="3848992"/>
            <a:ext cx="3786187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Phân loại theo 4 nhóm kiến thức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5325" y="4125217"/>
            <a:ext cx="3786187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Gắn nhãn 3 mức độ khó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5325" y="4401442"/>
            <a:ext cx="3786187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Đề thi sinh tự động theo tiêu chí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515492"/>
            <a:ext cx="539115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515492"/>
            <a:ext cx="539115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944242"/>
            <a:ext cx="539115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3944242"/>
            <a:ext cx="539115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744217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515492"/>
            <a:ext cx="53911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515492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91225" y="2515492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1250" y="3744217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250" y="2515492"/>
            <a:ext cx="539115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1250" y="2515492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72875" y="2515492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5172967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3944242"/>
            <a:ext cx="53911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3944242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91225" y="3944242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1250" y="5172967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0" y="3944242"/>
            <a:ext cx="539115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1250" y="3944242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72875" y="3944242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91100" y="2782192"/>
            <a:ext cx="771525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87050" y="2782192"/>
            <a:ext cx="657225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57775" y="4210942"/>
            <a:ext cx="704850" cy="2286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72750" y="4210942"/>
            <a:ext cx="771525" cy="228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02 — MÔ HÌNH PHÂN LOẠI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Bốn nhóm kiến thức cốt lõi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1162050"/>
            <a:ext cx="115824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Nền tảng đo lường năng lực chi tiết thay vì chỉ cung cấp một điểm số tổng duy nhất.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229350"/>
            <a:ext cx="3548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05 / 15 — CHƯƠNG 2 — PHÂN LOẠI KIẾN THỨC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0" y="6229350"/>
            <a:ext cx="233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TRƯỜNG ĐẠI HỌC CỬU LONG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3086992"/>
            <a:ext cx="50101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Biến, kiểu dữ liệu, thuật toán, hàm, mảng... — kiểm tra khả năng nhận biết và gọi đúng tên khái niệm lập trình cơ bản.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9375" y="3086992"/>
            <a:ext cx="50101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Các quy tắc và nguyên lý lập trình bắt buộc — kiểm tra khả năng ghi nhớ và áp dụng chuẩn xác quy tắc cú pháp.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4515742"/>
            <a:ext cx="50101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Thứ tự ưu tiên toán tử, đặc điểm vòng lặp, điều kiện rẽ nhánh — đo lường mức độ hiểu sâu bản chất vận hành.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9375" y="4515742"/>
            <a:ext cx="50101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Phân tích đoạn mã, tính toán kết quả đầu ra, tìm lỗi sai — kiểm tra tư duy giải thuật và kỹ năng lập trình nâng cao.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2786955"/>
            <a:ext cx="151268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01. KHÁI NIỆM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6350" y="2820292"/>
            <a:ext cx="676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Nhận biết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9375" y="2786955"/>
            <a:ext cx="13101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02. ĐỊNH LÝ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2300" y="2820292"/>
            <a:ext cx="561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B21A8"/>
                </a:solidFill>
                <a:latin typeface="Plus Jakarta Sans"/>
              </a:rPr>
              <a:t>Quy tắc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" y="4215705"/>
            <a:ext cx="1600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03. TÍNH CHẤT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53025" y="4249042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47857"/>
                </a:solidFill>
                <a:latin typeface="Plus Jakarta Sans"/>
              </a:rPr>
              <a:t>Hiểu sâu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9375" y="4215705"/>
            <a:ext cx="200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04. DẠNG BÀI TẬP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8000" y="4249042"/>
            <a:ext cx="676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91C1C"/>
                </a:solidFill>
                <a:latin typeface="Plus Jakarta Sans"/>
              </a:rPr>
              <a:t>Vận dụng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519362"/>
            <a:ext cx="5334000" cy="828675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3462337"/>
            <a:ext cx="5334000" cy="828675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4405312"/>
            <a:ext cx="5334000" cy="828675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462337"/>
            <a:ext cx="53340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929062"/>
            <a:ext cx="53340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4395787"/>
            <a:ext cx="533400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462337"/>
            <a:ext cx="2133600" cy="1143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929062"/>
            <a:ext cx="2133600" cy="114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395787"/>
            <a:ext cx="1066800" cy="1143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02 — ĐỘ KHÓ &amp; CÔNG NGHỆ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Phân bố độ khó &amp; Công nghệ áp dụng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29350"/>
            <a:ext cx="2845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06 / 15 — CHƯƠNG 2 — CÔNG NGHỆ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1300" y="6229350"/>
            <a:ext cx="1476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HẠ TẦNG KỸ THUẬT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871787"/>
            <a:ext cx="7000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Tỷ lệ độ khó mặc định (100 câu)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2147887"/>
            <a:ext cx="5943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Kiến trúc 3 tầng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2681287"/>
            <a:ext cx="57435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TẦNG 01 —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2833687"/>
            <a:ext cx="5743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HTML5, CSS3, JavaScript / ReactJS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3033712"/>
            <a:ext cx="57435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Giao diện đếm ngược, phản hồi thời gian thực.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3624262"/>
            <a:ext cx="57435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B5CF6"/>
                </a:solidFill>
                <a:latin typeface="Plus Jakarta Sans"/>
              </a:rPr>
              <a:t>TẦNG 02 —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3776662"/>
            <a:ext cx="5743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Node.js / C# (.NET Core)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3976687"/>
            <a:ext cx="57435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Logic sinh đề tự động &amp; thuật toán chấm điểm.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4567237"/>
            <a:ext cx="57435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TẦNG 03 — CƠ SỞ DỮ LIỆU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8425" y="4719637"/>
            <a:ext cx="5743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MySQL / SQL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4919662"/>
            <a:ext cx="57435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Lưu ngân hàng câu hỏi &amp; lịch sử bài làm.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3243262"/>
            <a:ext cx="2619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40% Dễ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— Nhận biết &amp; Ghi nhớ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7350" y="3243262"/>
            <a:ext cx="762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40 câu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3709987"/>
            <a:ext cx="3095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40% Trung bình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— Vận dụng quy tắc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7350" y="3709987"/>
            <a:ext cx="762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40 câu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4176712"/>
            <a:ext cx="2512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20% Khó</a:t>
            </a:r>
            <a:r>
              <a:rPr b="0" sz="1125" i="0" u="none">
                <a:solidFill>
                  <a:srgbClr val="1E293B"/>
                </a:solidFill>
                <a:latin typeface="Plus Jakarta Sans"/>
              </a:rPr>
              <a:t> — Tư duy &amp; Mở rộng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7350" y="4176712"/>
            <a:ext cx="762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Plus Jakarta Sans"/>
              </a:rPr>
              <a:t>20 câu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09900"/>
            <a:ext cx="2386012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362450"/>
            <a:ext cx="23860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09900"/>
            <a:ext cx="238601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86087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1862" y="3009900"/>
            <a:ext cx="2386012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381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1862" y="4362450"/>
            <a:ext cx="23860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1862" y="3009900"/>
            <a:ext cx="2386012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1862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48350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4125" y="3009900"/>
            <a:ext cx="2386012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4125" y="4362450"/>
            <a:ext cx="23860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4125" y="3009900"/>
            <a:ext cx="2386012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4125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10612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96387" y="3009900"/>
            <a:ext cx="2386012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96387" y="4362450"/>
            <a:ext cx="23860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96387" y="3009900"/>
            <a:ext cx="2386012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6387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72875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595687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595687"/>
            <a:ext cx="17145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537" y="3595687"/>
            <a:ext cx="17145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03 — PHÂN TÍCH HỆ THỐNG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Tác nhân &amp; Luồng xử lý trung tâm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229350"/>
            <a:ext cx="2857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07 / 15 — CHƯƠNG 3 — LUỒNG XỬ LÝ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0" y="6229350"/>
            <a:ext cx="233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TRƯỜNG ĐẠI HỌC CỬU LONG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3238500"/>
            <a:ext cx="2525315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BƯỚC 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2210" y="3238500"/>
            <a:ext cx="2525315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8B5CF6"/>
                </a:solidFill>
                <a:latin typeface="Plus Jakarta Sans"/>
              </a:rPr>
              <a:t>BƯỚC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4473" y="3238500"/>
            <a:ext cx="2525315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BƯỚC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6735" y="3238500"/>
            <a:ext cx="2525315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BƯỚC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324" y="3552825"/>
            <a:ext cx="25065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Quản lý câu hỏi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004" y="3829050"/>
            <a:ext cx="23872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Gắn nhãn chương, 4 nhóm kiến thức &amp; 3 mức độ khó.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11587" y="3552825"/>
            <a:ext cx="25065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Thiết lập tiêu chí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1267" y="3829050"/>
            <a:ext cx="23872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Chọn chương bài, tỷ lệ nhóm kiến thức &amp; độ khó.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3849" y="3552825"/>
            <a:ext cx="25065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Sinh viên làm bài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3529" y="3829050"/>
            <a:ext cx="23872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Giao diện trực quan với đồng hồ đếm ngược tự động.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6112" y="3552825"/>
            <a:ext cx="25065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Chấm &amp; Phân tích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5792" y="3829050"/>
            <a:ext cx="23872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Tự động xuất báo cáo năng lực đa chiều ngay sau nộp.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681287"/>
            <a:ext cx="5334000" cy="2019300"/>
          </a:xfrm>
          <a:prstGeom prst="roundRect">
            <a:avLst>
              <a:gd name="adj" fmla="val 5660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886075"/>
            <a:ext cx="5334000" cy="428625"/>
          </a:xfrm>
          <a:prstGeom prst="roundRect">
            <a:avLst>
              <a:gd name="adj" fmla="val 1777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390900"/>
            <a:ext cx="5334000" cy="428625"/>
          </a:xfrm>
          <a:prstGeom prst="roundRect">
            <a:avLst>
              <a:gd name="adj" fmla="val 17777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400550"/>
            <a:ext cx="5334000" cy="428625"/>
          </a:xfrm>
          <a:prstGeom prst="roundRect">
            <a:avLst>
              <a:gd name="adj" fmla="val 17777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03 — THUẬT TOÁN ĐÁNH GIÁ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Thuật toán đánh giá năng lực cốt lõi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29350"/>
            <a:ext cx="2809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08 / 15 — CHƯƠNG 3 — THUẬT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0" y="6229350"/>
            <a:ext cx="233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TRƯỜNG ĐẠI HỌC CỬU LONG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552700"/>
            <a:ext cx="7000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Ngưỡng đánh giá theo phần trăm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4556" y="2995612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CÔNG THỨC ĐÁNH GIÁ TỔNG QUÁT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556" y="3319462"/>
            <a:ext cx="588168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lus Jakarta Sans"/>
              </a:rPr>
              <a:t>Tỷ lệ đúng = </a:t>
            </a:r>
            <a:r>
              <a:rPr b="1" sz="1800" i="0" u="none">
                <a:solidFill>
                  <a:srgbClr val="38BDF8"/>
                </a:solidFill>
                <a:latin typeface="Plus Jakarta Sans"/>
              </a:rPr>
              <a:t>(Số câu đúng X)</a:t>
            </a:r>
            <a:r>
              <a:rPr b="1" sz="1800" i="0" u="none">
                <a:solidFill>
                  <a:srgbClr val="FFFFFF"/>
                </a:solidFill>
                <a:latin typeface="Plus Jakarta Sans"/>
              </a:rPr>
              <a:t> / </a:t>
            </a:r>
            <a:r>
              <a:rPr b="1" sz="1800" i="0" u="none">
                <a:solidFill>
                  <a:srgbClr val="94A3B8"/>
                </a:solidFill>
                <a:latin typeface="Plus Jakarta Sans"/>
              </a:rPr>
              <a:t>(Tổng số câu 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4556" y="4043362"/>
            <a:ext cx="58816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Trong đó X đại diện cho 1 trong 4 nhóm: Khái niệm, Định lý, Tính chất hoặc Dạng bài tập.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3000375"/>
            <a:ext cx="189048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≥ 80% — NẮM VỮNG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750" y="3000375"/>
            <a:ext cx="264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5803D"/>
                </a:solidFill>
                <a:latin typeface="Plus Jakarta Sans"/>
              </a:rPr>
              <a:t>Đã thành thạo nhóm kiến thức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505200"/>
            <a:ext cx="1869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75985"/>
                </a:solidFill>
                <a:latin typeface="Plus Jakarta Sans"/>
              </a:rPr>
              <a:t>65–79% — KHÁ TỐT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3800" y="3505200"/>
            <a:ext cx="2619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369A1"/>
                </a:solidFill>
                <a:latin typeface="Plus Jakarta Sans"/>
              </a:rPr>
              <a:t>Vững nhưng còn vài hổng nhỏ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4010025"/>
            <a:ext cx="2476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3412"/>
                </a:solidFill>
                <a:latin typeface="Plus Jakarta Sans"/>
              </a:rPr>
              <a:t>50–64% — CHƯA ỔN ĐỊNH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9100" y="4010025"/>
            <a:ext cx="2000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2410C"/>
                </a:solidFill>
                <a:latin typeface="Plus Jakarta Sans"/>
              </a:rPr>
              <a:t>Cần luyện tập bổ sung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4514850"/>
            <a:ext cx="2035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&lt; 50% — CẦN ÔN TẬP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3800" y="4514850"/>
            <a:ext cx="2619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DC2626"/>
                </a:solidFill>
                <a:latin typeface="Plus Jakarta Sans"/>
              </a:rPr>
              <a:t>Hổng kiến thức nghiêm trọng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09900"/>
            <a:ext cx="3530649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0749" y="3009900"/>
            <a:ext cx="3530649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899" y="3009900"/>
            <a:ext cx="3530649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36245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009900"/>
            <a:ext cx="353064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30724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0749" y="436245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0749" y="3009900"/>
            <a:ext cx="3530649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749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51874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4362450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3009900"/>
            <a:ext cx="353064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99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73023" y="3009900"/>
            <a:ext cx="9525" cy="1362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03 — THIẾT KẾ CSDL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Sơ đồ ERD — Cấu trúc 8 bảng chính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229350"/>
            <a:ext cx="3000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09 / 15 — CHƯƠNG 3 — CƠ SỞ DỮ LIỆU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0" y="6229350"/>
            <a:ext cx="233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TRƯỜNG ĐẠI HỌC CỬU 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276600"/>
            <a:ext cx="38179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NHÓM 1 — DANH MỤC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874" y="3276600"/>
            <a:ext cx="38179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B5CF6"/>
                </a:solidFill>
                <a:latin typeface="Plus Jakarta Sans"/>
              </a:rPr>
              <a:t>NHÓM 2 — CÂU HỎI &amp; ĐỀ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024" y="3276600"/>
            <a:ext cx="38179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NHÓM 3 — KẾT QUẢ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350520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MONHOC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(MaMon, TenMon)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373380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CHUONGBAI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(MaChuong, TenChuong)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396240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KIENTHUC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(MaKienThuc, Loai)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874" y="350520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CAUHOI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(MaCauHoi, NoiDung, DoKho)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8874" y="373380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DAPAN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(MaDapAn, NoiDung, LaDung)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8874" y="396240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DEKIEMTRA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(MaDe, TenDe, TieuChi)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0024" y="350520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KETQUA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(MaKetQua, DiemSo, ThoiGian)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0024" y="373380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KETQUAKIENTHUC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(Snapshot kết quả 4 nhóm)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81325"/>
            <a:ext cx="3530649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0749" y="2981325"/>
            <a:ext cx="3530649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899" y="2981325"/>
            <a:ext cx="3530649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219450"/>
            <a:ext cx="1038225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68874" y="3219450"/>
            <a:ext cx="1066800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90024" y="3219450"/>
            <a:ext cx="106680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04 — XÂY DỰNG HỆ THỐNG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Hiện thực hóa các chức năng cốt lõi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29350"/>
            <a:ext cx="2643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10 / 15 — CHƯƠNG 4 — TRIỂN KHAI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0" y="6229350"/>
            <a:ext cx="233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TRƯỜNG ĐẠI HỌC CỬU LONG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3257550"/>
            <a:ext cx="942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TÍNH NĂNG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543300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Quản lý câu hỏi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819525"/>
            <a:ext cx="31496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CRUD ngân hàng câu hỏi, hỗ trợ lọc theo chương bài, 4 nhóm kiến thức và độ khó.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124" y="3257550"/>
            <a:ext cx="971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Plus Jakarta Sans"/>
              </a:rPr>
              <a:t>TÍNH NĂNG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874" y="3543300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Tạo đề tự động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874" y="3819525"/>
            <a:ext cx="31496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Quy trình 5 bước thiết lập tiêu chí — hệ thống tự động lọc ngẫu nhiên câu hỏi phù hợp.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274" y="3257550"/>
            <a:ext cx="971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Plus Jakarta Sans"/>
              </a:rPr>
              <a:t>TÍNH NĂNG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024" y="3543300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Làm bài &amp; Đếm giờ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3819525"/>
            <a:ext cx="31496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Giao diện làm bài trực quan, bộ đếm tự động khóa và nộp bài khi hết thời gian.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038350"/>
            <a:ext cx="5181600" cy="3305175"/>
          </a:xfrm>
          <a:prstGeom prst="roundRect">
            <a:avLst>
              <a:gd name="adj" fmla="val 4610"/>
            </a:avLst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533900"/>
            <a:ext cx="45720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0" y="4614862"/>
            <a:ext cx="5486400" cy="781050"/>
          </a:xfrm>
          <a:prstGeom prst="roundRect">
            <a:avLst>
              <a:gd name="adj" fmla="val 975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533900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0" y="2919412"/>
            <a:ext cx="54864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0" y="3376612"/>
            <a:ext cx="54864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0" y="3833812"/>
            <a:ext cx="54864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0" y="4291012"/>
            <a:ext cx="5486400" cy="952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0" y="4614862"/>
            <a:ext cx="38100" cy="781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0" y="2919412"/>
            <a:ext cx="5486400" cy="95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0" y="3376612"/>
            <a:ext cx="5486400" cy="952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0" y="3833812"/>
            <a:ext cx="3675757" cy="95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0" y="4291012"/>
            <a:ext cx="2743200" cy="952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04 — ĐÁNH GIÁ NĂNG LỰC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Báo cáo kết quả trực quan ngay sau nộp bài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229350"/>
            <a:ext cx="2488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11 / 15 — CHƯƠNG 4 — BÁO CÁO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8900" y="6229350"/>
            <a:ext cx="166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KẾT QUẢ TRỰC QUAN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1985962"/>
            <a:ext cx="6096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CHI TIẾT NĂNG LỰC THEO NHÓM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2290762"/>
            <a:ext cx="6096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Bốn nhóm kiến thức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3431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BÁO CÁO NĂNG LỰC — MẪU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562225"/>
            <a:ext cx="490061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Sinh viên Nguyễn Văn A - Đề 03 - Nhập môn Lập trình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05275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0B981"/>
                </a:solidFill>
                <a:latin typeface="Plus Jakarta Sans"/>
              </a:rPr>
              <a:t>Tỷ lệ đúng: 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5550" y="4748212"/>
            <a:ext cx="58864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NHẮC NHỞ CÁ NHÂN HÓA (SINH TỰ ĐỘNG)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5550" y="4919662"/>
            <a:ext cx="52006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C4A6E"/>
                </a:solidFill>
                <a:latin typeface="Plus Jakarta Sans"/>
              </a:rPr>
              <a:t>Bạn nắm vững Khái niệm &amp; Định lý — hãy luyện thêm Dạng bài tập về vòng lặp và đệ quy.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267075"/>
            <a:ext cx="16668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38BDF8"/>
                </a:solidFill>
                <a:latin typeface="Plus Jakarta Sans"/>
              </a:rPr>
              <a:t>8.0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24100" y="3676650"/>
            <a:ext cx="7524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94A3B8"/>
                </a:solidFill>
                <a:latin typeface="Plus Jakarta Sans"/>
              </a:rPr>
              <a:t>/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95825"/>
            <a:ext cx="800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SỐ NỘP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67275"/>
            <a:ext cx="8001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10/10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5800" y="4695825"/>
            <a:ext cx="685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ĐÚNG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5800" y="4867275"/>
            <a:ext cx="685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0B981"/>
                </a:solidFill>
                <a:latin typeface="Plus Jakarta San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2900" y="4695825"/>
            <a:ext cx="495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82900" y="4867275"/>
            <a:ext cx="495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9501" y="4695825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THỜI GIAN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9501" y="4867275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14'32"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0" y="2709862"/>
            <a:ext cx="1928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Khái niệm</a:t>
            </a:r>
            <a:r>
              <a:rPr b="0" sz="1050" i="0" u="none">
                <a:solidFill>
                  <a:srgbClr val="1E293B"/>
                </a:solidFill>
                <a:latin typeface="Plus Jakarta Sans"/>
              </a:rPr>
              <a:t> (3/3 câu đúng)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91875" y="2709862"/>
            <a:ext cx="676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167062"/>
            <a:ext cx="1643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Định lý</a:t>
            </a:r>
            <a:r>
              <a:rPr b="0" sz="1050" i="0" u="none">
                <a:solidFill>
                  <a:srgbClr val="1E293B"/>
                </a:solidFill>
                <a:latin typeface="Plus Jakarta Sans"/>
              </a:rPr>
              <a:t> (2/2 câu đúng)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91875" y="3167062"/>
            <a:ext cx="676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5CF6"/>
                </a:solidFill>
                <a:latin typeface="Plus Jakarta Sans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0" y="3624262"/>
            <a:ext cx="1845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Tính chất</a:t>
            </a:r>
            <a:r>
              <a:rPr b="0" sz="1050" i="0" u="none">
                <a:solidFill>
                  <a:srgbClr val="1E293B"/>
                </a:solidFill>
                <a:latin typeface="Plus Jakarta Sans"/>
              </a:rPr>
              <a:t> (2/3 câu đúng)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87125" y="3624262"/>
            <a:ext cx="5810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67%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0" y="4081462"/>
            <a:ext cx="207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Dạng bài tập</a:t>
            </a:r>
            <a:r>
              <a:rPr b="0" sz="1050" i="0" u="none">
                <a:solidFill>
                  <a:srgbClr val="1E293B"/>
                </a:solidFill>
                <a:latin typeface="Plus Jakarta Sans"/>
              </a:rPr>
              <a:t> (1/2 câu đúng)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58550" y="4081462"/>
            <a:ext cx="609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50%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024437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824037"/>
            <a:ext cx="35305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600" y="1824037"/>
            <a:ext cx="3530649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750" y="1824037"/>
            <a:ext cx="3530500" cy="1409700"/>
          </a:xfrm>
          <a:prstGeom prst="roundRect">
            <a:avLst>
              <a:gd name="adj" fmla="val 8108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424237"/>
            <a:ext cx="35305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0600" y="3424237"/>
            <a:ext cx="3530649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51750" y="3424237"/>
            <a:ext cx="3530500" cy="1409700"/>
          </a:xfrm>
          <a:prstGeom prst="roundRect">
            <a:avLst>
              <a:gd name="adj" fmla="val 810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91800" y="5176837"/>
            <a:ext cx="762000" cy="2286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224212"/>
            <a:ext cx="3530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1824037"/>
            <a:ext cx="35305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1824037"/>
            <a:ext cx="9525" cy="1409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0575" y="1824037"/>
            <a:ext cx="9525" cy="1409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0600" y="3224212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0600" y="1824037"/>
            <a:ext cx="3530649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0600" y="1824037"/>
            <a:ext cx="9525" cy="1409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51725" y="1824037"/>
            <a:ext cx="9525" cy="1409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4824412"/>
            <a:ext cx="3530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3424237"/>
            <a:ext cx="35305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424237"/>
            <a:ext cx="9525" cy="1409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30575" y="3424237"/>
            <a:ext cx="9525" cy="1409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0600" y="4824412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0600" y="3424237"/>
            <a:ext cx="3530649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0600" y="3424237"/>
            <a:ext cx="9525" cy="1409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51725" y="3424237"/>
            <a:ext cx="9525" cy="1409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05 — THỰC NGHIỆM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Quy mô thử nghiệm &amp; Dữ liệu đầu vào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229350"/>
            <a:ext cx="2905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12 / 15 — CHƯƠNG 5 — THỰC NGHIỆM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5500" y="6229350"/>
            <a:ext cx="233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TRƯỜNG ĐẠI HỌC CỬU LONG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5200650"/>
            <a:ext cx="9239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ĐÁNH GIÁ CHỨC NĂNG TẠO ĐỀ: Đạt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100%</a:t>
            </a:r>
            <a:r>
              <a:rPr b="1" sz="1125" i="0" u="none">
                <a:solidFill>
                  <a:srgbClr val="FFFFFF"/>
                </a:solidFill>
                <a:latin typeface="Plus Jakarta Sans"/>
              </a:rPr>
              <a:t> yêu cầu lọc đúng Chương — Độ khó — Loại kiến thức — Thời gian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87050" y="5214937"/>
            <a:ext cx="666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VERIFIED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725" y="2090737"/>
            <a:ext cx="3817813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2624137"/>
            <a:ext cx="40087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Môn học triển khai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2824162"/>
            <a:ext cx="381781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Nhập môn Lập trình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8725" y="2090737"/>
            <a:ext cx="3817999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8B5CF6"/>
                </a:solidFill>
                <a:latin typeface="Plus Jakarta San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8725" y="2624137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Chương được số hóa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8725" y="2824162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Chương bài hoàn chỉnh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9875" y="2062162"/>
            <a:ext cx="3817813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38BDF8"/>
                </a:solidFill>
                <a:latin typeface="Plus Jakarta Sans"/>
              </a:rPr>
              <a:t>100</a:t>
            </a:r>
            <a:r>
              <a:rPr b="1" sz="1500" i="0" u="none">
                <a:solidFill>
                  <a:srgbClr val="38BDF8"/>
                </a:solidFill>
                <a:latin typeface="Plus Jakarta Sans"/>
              </a:rPr>
              <a:t> câu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9875" y="2595562"/>
            <a:ext cx="3902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Câu hỏi chuẩn hóa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9875" y="2795587"/>
            <a:ext cx="3817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Phân loại đều 4 nhóm &amp; 3 độ khó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725" y="3690937"/>
            <a:ext cx="3817813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25" y="4224337"/>
            <a:ext cx="40087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Đề kiểm tra mẫu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725" y="4424362"/>
            <a:ext cx="381781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Sinh tự động theo tiêu chí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8725" y="3690937"/>
            <a:ext cx="3817999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8725" y="4224337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Sinh viên tham gia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68725" y="4424362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Thử nghiệm thực tế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9875" y="3662362"/>
            <a:ext cx="3817813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369A1"/>
                </a:solidFill>
                <a:latin typeface="Plus Jakarta Sans"/>
              </a:rPr>
              <a:t>30</a:t>
            </a:r>
            <a:r>
              <a:rPr b="1" sz="1500" i="0" u="none">
                <a:solidFill>
                  <a:srgbClr val="0369A1"/>
                </a:solidFill>
                <a:latin typeface="Plus Jakarta Sans"/>
              </a:rPr>
              <a:t> lượt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9875" y="4195762"/>
            <a:ext cx="3902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Lượt làm bài thực tế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89875" y="4395787"/>
            <a:ext cx="381781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369A1"/>
                </a:solidFill>
                <a:latin typeface="Plus Jakarta Sans"/>
              </a:rPr>
              <a:t>Trung bình 3 bài / sinh viên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04962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09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786062"/>
            <a:ext cx="5160764" cy="2990850"/>
          </a:xfrm>
          <a:prstGeom prst="roundRect">
            <a:avLst>
              <a:gd name="adj" fmla="val 3821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4548187"/>
            <a:ext cx="4684514" cy="352425"/>
          </a:xfrm>
          <a:prstGeom prst="roundRect">
            <a:avLst>
              <a:gd name="adj" fmla="val 16216"/>
            </a:avLst>
          </a:prstGeom>
          <a:solidFill>
            <a:srgbClr val="322B25"/>
          </a:solidFill>
          <a:ln w="9525">
            <a:solidFill>
              <a:srgbClr val="6B4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60864" y="2786062"/>
            <a:ext cx="5621535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60864" y="3871912"/>
            <a:ext cx="5621535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60864" y="4805362"/>
            <a:ext cx="5621535" cy="971550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CHƯƠNG 05 — KẾT QUẢ &amp; ĐÁNH GIÁ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Ba kết quả đáng chú ý từ thực nghiệm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29350"/>
            <a:ext cx="245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13 / 15 — CHƯƠNG 5 — KẾT QUẢ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0" y="6229350"/>
            <a:ext cx="233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TRƯỜNG ĐẠI HỌC CỬU LONG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833562"/>
            <a:ext cx="1916906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38BDF8"/>
                </a:solidFill>
                <a:latin typeface="Plus Jakarta Sans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6525" y="1980307"/>
            <a:ext cx="8965406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Hệ thống chấm điểm chính xác từng đáp án và đồng bộ hoàn toàn với ngân hàng câu hỏi.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024187"/>
            <a:ext cx="585564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59E0B"/>
                </a:solidFill>
                <a:latin typeface="Plus Jakarta Sans"/>
              </a:rPr>
              <a:t>VÍ DỤ MINH HỌA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224212"/>
            <a:ext cx="61484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Phản ánh trung thực lỗ hổng kiến thức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4643437"/>
            <a:ext cx="458926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DE68A"/>
                </a:solidFill>
                <a:latin typeface="Plus Jakarta Sans"/>
              </a:rPr>
              <a:t>→ Tự động nhắc nhở: "Luyện tập thêm phần bài tập code và đệ quy."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576637"/>
            <a:ext cx="585564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Plus Jakarta Sans"/>
              </a:rPr>
              <a:t>Khái niệm: 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805237"/>
            <a:ext cx="585564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Plus Jakarta Sans"/>
              </a:rPr>
              <a:t>Định lý: 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033837"/>
            <a:ext cx="585564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Plus Jakarta Sans"/>
              </a:rPr>
              <a:t>Tính chất: 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262437"/>
            <a:ext cx="585564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Plus Jakarta Sans"/>
              </a:rPr>
              <a:t>Dạng bài tập: </a:t>
            </a:r>
            <a:r>
              <a:rPr b="1" sz="975" i="0" u="none">
                <a:solidFill>
                  <a:srgbClr val="EF4444"/>
                </a:solidFill>
                <a:latin typeface="Plus Jakarta Sans"/>
              </a:rPr>
              <a:t>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2789" y="2947987"/>
            <a:ext cx="606921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PHÁT HIỆN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2789" y="3090862"/>
            <a:ext cx="60692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Phản ánh lỗ hổng kiến thức cụ thể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2789" y="3290887"/>
            <a:ext cx="539293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Phát hiện nhóm Dạng bài tập yếu dù các nhóm khác đạt điểm cao — sinh viên nhận cảnh báo đích danh.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2789" y="4033837"/>
            <a:ext cx="606921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PHÁT HIỆN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2789" y="4176712"/>
            <a:ext cx="60692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Theo dõi tiến bộ qua 3–4 bài làm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2789" y="4376737"/>
            <a:ext cx="606921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Hệ thống hiển thị xu hướng cải thiện rõ rệt giúp giảng viên can thiệp và hỗ trợ kịp thời.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2789" y="4967287"/>
            <a:ext cx="606921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Plus Jakarta Sans"/>
              </a:rPr>
              <a:t>TỔNG KẾT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2789" y="5110162"/>
            <a:ext cx="60692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4532D"/>
                </a:solidFill>
                <a:latin typeface="Plus Jakarta Sans"/>
              </a:rPr>
              <a:t>Đánh giá công bằng — Phản hồi có ý nghĩa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2789" y="5310187"/>
            <a:ext cx="539293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66534"/>
                </a:solidFill>
                <a:latin typeface="Plus Jakarta Sans"/>
              </a:rPr>
              <a:t>Thay vì một con số duy nhất, sinh viên nhận bức tranh năng lực đa chiều theo từng nhóm kiến thức.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281237"/>
            <a:ext cx="5381625" cy="28194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9825" y="2281237"/>
            <a:ext cx="5362575" cy="2819400"/>
          </a:xfrm>
          <a:prstGeom prst="roundRect">
            <a:avLst>
              <a:gd name="adj" fmla="val 4054"/>
            </a:avLst>
          </a:prstGeom>
          <a:solidFill>
            <a:srgbClr val="0B132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6050" y="3748087"/>
            <a:ext cx="247650" cy="180975"/>
          </a:xfrm>
          <a:prstGeom prst="roundRect">
            <a:avLst>
              <a:gd name="adj" fmla="val 21052"/>
            </a:avLst>
          </a:prstGeom>
          <a:solidFill>
            <a:srgbClr val="14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6050" y="4081462"/>
            <a:ext cx="266700" cy="180975"/>
          </a:xfrm>
          <a:prstGeom prst="roundRect">
            <a:avLst>
              <a:gd name="adj" fmla="val 21052"/>
            </a:avLst>
          </a:prstGeom>
          <a:solidFill>
            <a:srgbClr val="14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6050" y="4595812"/>
            <a:ext cx="266700" cy="180975"/>
          </a:xfrm>
          <a:prstGeom prst="roundRect">
            <a:avLst>
              <a:gd name="adj" fmla="val 21052"/>
            </a:avLst>
          </a:prstGeom>
          <a:solidFill>
            <a:srgbClr val="14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566987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255746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2681287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875" y="267176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3833812"/>
            <a:ext cx="66675" cy="76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4348162"/>
            <a:ext cx="66675" cy="76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TỔNG KẾT ĐỒ 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Kết luận &amp; Hướng phát triển tiếp theo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229350"/>
            <a:ext cx="1409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14 / 15 — KẾT LUẬN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6075" y="6229350"/>
            <a:ext cx="1362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TỔNG KẾT ĐỒ 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3100387"/>
            <a:ext cx="6012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PHẦN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281362"/>
            <a:ext cx="631328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Kết luận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050" y="3090862"/>
            <a:ext cx="56959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PHẦN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050" y="3271837"/>
            <a:ext cx="56959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Hướng phát triển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325" y="3757612"/>
            <a:ext cx="4724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00" i="0" u="none">
                <a:solidFill>
                  <a:srgbClr val="0284C7"/>
                </a:solidFill>
                <a:latin typeface="Plus Jakarta Sans"/>
              </a:rPr>
              <a:t>Hoàn thành mục tiêu đề ra:</a:t>
            </a:r>
            <a:r>
              <a:rPr b="1" sz="600" i="0" u="none">
                <a:solidFill>
                  <a:srgbClr val="0284C7"/>
                </a:solidFill>
                <a:latin typeface="Plus Jakarta Sans"/>
              </a:rPr>
              <a:t> xây dựng thành công hệ thống trắc nghiệm thông minh cho môn Nhập môn Lập trình.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" y="4271962"/>
            <a:ext cx="47244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00" i="0" u="none">
                <a:solidFill>
                  <a:srgbClr val="0284C7"/>
                </a:solidFill>
                <a:latin typeface="Plus Jakarta Sans"/>
              </a:rPr>
              <a:t>Đóng góp nổi bật:</a:t>
            </a:r>
            <a:r>
              <a:rPr b="1" sz="600" i="0" u="none">
                <a:solidFill>
                  <a:srgbClr val="0284C7"/>
                </a:solidFill>
                <a:latin typeface="Plus Jakarta Sans"/>
              </a:rPr>
              <a:t> đánh giá chi tiết năng lực sinh viên theo phân loại kiến thức thay vì chỉ cung cấp điểm số đơn thuần — điểm nhấn khác biệt của đồ án.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6050" y="3748087"/>
            <a:ext cx="56959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Bổ sung </a:t>
            </a:r>
            <a:r>
              <a:rPr b="1" sz="900" i="0" u="none">
                <a:solidFill>
                  <a:srgbClr val="38BDF8"/>
                </a:solidFill>
                <a:latin typeface="Plus Jakarta Sans"/>
              </a:rPr>
              <a:t>AI để tự động tạo câu hỏi</a:t>
            </a:r>
            <a:r>
              <a:rPr b="1" sz="900" i="0" u="none">
                <a:solidFill>
                  <a:srgbClr val="38BDF8"/>
                </a:solidFill>
                <a:latin typeface="Plus Jakarta Sans"/>
              </a:rPr>
              <a:t> từ giáo trình môn học.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6050" y="4081462"/>
            <a:ext cx="490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Tự động gợi ý </a:t>
            </a:r>
            <a:r>
              <a:rPr b="1" sz="900" i="0" u="none">
                <a:solidFill>
                  <a:srgbClr val="38BDF8"/>
                </a:solidFill>
                <a:latin typeface="Plus Jakarta Sans"/>
              </a:rPr>
              <a:t>bài tập củng cố</a:t>
            </a:r>
            <a:r>
              <a:rPr b="1" sz="900" i="0" u="none">
                <a:solidFill>
                  <a:srgbClr val="38BDF8"/>
                </a:solidFill>
                <a:latin typeface="Plus Jakarta Sans"/>
              </a:rPr>
              <a:t> dựa trên lỗ hổng kiến thức của từng sinh viên.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6050" y="4595812"/>
            <a:ext cx="56959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Mở rộng ứng dụng cho </a:t>
            </a:r>
            <a:r>
              <a:rPr b="1" sz="900" i="0" u="none">
                <a:solidFill>
                  <a:srgbClr val="38BDF8"/>
                </a:solidFill>
                <a:latin typeface="Plus Jakarta Sans"/>
              </a:rPr>
              <a:t>nhiều môn học khác</a:t>
            </a:r>
            <a:r>
              <a:rPr b="1" sz="900" i="0" u="none">
                <a:solidFill>
                  <a:srgbClr val="38BDF8"/>
                </a:solidFill>
                <a:latin typeface="Plus Jakarta Sans"/>
              </a:rPr>
              <a:t> trong toàn trường.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3767137"/>
            <a:ext cx="228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3200" y="4100512"/>
            <a:ext cx="247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200" y="4614862"/>
            <a:ext cx="247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71837" y="2657475"/>
            <a:ext cx="5648325" cy="638175"/>
          </a:xfrm>
          <a:prstGeom prst="roundRect">
            <a:avLst>
              <a:gd name="adj" fmla="val 17910"/>
            </a:avLst>
          </a:prstGeom>
          <a:solidFill>
            <a:srgbClr val="1A2334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86162" y="2819400"/>
            <a:ext cx="657225" cy="314325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16710" y="457200"/>
            <a:ext cx="1958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Space Grotesk"/>
              </a:rPr>
              <a:t>TRÂN TRỌNG CẢM 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9286" y="895350"/>
            <a:ext cx="7413426" cy="866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Plus Jakarta Sans"/>
              </a:rPr>
              <a:t>Cảm 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5796" y="1990725"/>
            <a:ext cx="706040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Xin chân thành cảm ơn </a:t>
            </a:r>
            <a:r>
              <a:rPr b="1" sz="1500" i="0" u="none">
                <a:solidFill>
                  <a:srgbClr val="CBD5E1"/>
                </a:solidFill>
                <a:latin typeface="Plus Jakarta Sans"/>
              </a:rPr>
              <a:t>PGS.TS. Nguyễn Đình Hiển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71" y="6229350"/>
            <a:ext cx="5679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TRƯỜNG ĐẠI HỌC CỬU LONG — KHOA CNTT — TRÍ TUỆ NHÂN TẠO —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7575" y="6229350"/>
            <a:ext cx="647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15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587" y="2876550"/>
            <a:ext cx="714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Q &amp;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9531" y="2867025"/>
            <a:ext cx="5262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2E8F0"/>
                </a:solidFill>
                <a:latin typeface="Plus Jakarta Sans"/>
              </a:rPr>
              <a:t>Cảm ơn các bạn đã lắng nghe — Thảo luận &amp; Hỏi đáp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